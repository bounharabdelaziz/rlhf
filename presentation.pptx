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7" r:id="rId9"/>
    <p:sldId id="262" r:id="rId10"/>
    <p:sldId id="263" r:id="rId11"/>
    <p:sldId id="268" r:id="rId12"/>
    <p:sldId id="265" r:id="rId13"/>
    <p:sldId id="269" r:id="rId14"/>
    <p:sldId id="272" r:id="rId15"/>
    <p:sldId id="276" r:id="rId16"/>
    <p:sldId id="277" r:id="rId17"/>
    <p:sldId id="279" r:id="rId18"/>
    <p:sldId id="278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48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03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099BF-1DF3-24BA-5D37-2004E9D5A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8EF72E-4F5D-3D5F-AEEF-D9FE1B05B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43F9E8-50A8-4AE0-00E3-A62E9F98D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F7731-2BD7-0751-BE28-FD9AE7A2FF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495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94734-6EBD-5BE8-7B73-318705F6C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CA9CBB-A0E4-3751-34CC-4B77A0E60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BC2A5-5400-3B36-F6CE-47A5834D2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DF72B-CE73-09DA-A49E-B9CFC78B4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604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69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sagemaker-ai/pricing/" TargetMode="External"/><Relationship Id="rId2" Type="http://schemas.openxmlformats.org/officeDocument/2006/relationships/hyperlink" Target="https://rahulschand.github.io/gpu_poo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unpod.io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914400"/>
            <a:ext cx="5486400" cy="5486400"/>
          </a:xfrm>
          <a:prstGeom prst="ellipse">
            <a:avLst/>
          </a:prstGeom>
          <a:solidFill>
            <a:srgbClr val="EAF2FF">
              <a:alpha val="65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Shape 1"/>
          <p:cNvSpPr/>
          <p:nvPr/>
        </p:nvSpPr>
        <p:spPr>
          <a:xfrm>
            <a:off x="-1828800" y="4754880"/>
            <a:ext cx="5029200" cy="5029200"/>
          </a:xfrm>
          <a:prstGeom prst="ellipse">
            <a:avLst/>
          </a:prstGeom>
          <a:solidFill>
            <a:srgbClr val="D1FAE5">
              <a:alpha val="5500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Shape 2"/>
          <p:cNvSpPr/>
          <p:nvPr/>
        </p:nvSpPr>
        <p:spPr>
          <a:xfrm>
            <a:off x="1005840" y="960120"/>
            <a:ext cx="2148840" cy="38404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Text 3"/>
          <p:cNvSpPr/>
          <p:nvPr/>
        </p:nvSpPr>
        <p:spPr>
          <a:xfrm>
            <a:off x="1143000" y="1051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LLMs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1600200"/>
            <a:ext cx="731520" cy="7315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Text 5"/>
          <p:cNvSpPr/>
          <p:nvPr/>
        </p:nvSpPr>
        <p:spPr>
          <a:xfrm>
            <a:off x="838200" y="226771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Making AI Smarter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38200" y="309067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Guide to improving LLMs via DPO and GRPO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38200" y="377647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 from a raw model to a helpful assistant?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5577840"/>
            <a:ext cx="10424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Text 9"/>
          <p:cNvSpPr/>
          <p:nvPr/>
        </p:nvSpPr>
        <p:spPr>
          <a:xfrm>
            <a:off x="960120" y="5715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5943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Abdelaziz Bounhar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21040" y="5715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UPDATED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0" y="5943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685800"/>
            <a:ext cx="73152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1819302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From Raw AI to Helpful Assistant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70514" y="2377453"/>
            <a:ext cx="2375918" cy="310018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" name="Shape 4"/>
          <p:cNvSpPr/>
          <p:nvPr/>
        </p:nvSpPr>
        <p:spPr>
          <a:xfrm>
            <a:off x="544631" y="2158348"/>
            <a:ext cx="408545" cy="35804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Text 5"/>
          <p:cNvSpPr/>
          <p:nvPr/>
        </p:nvSpPr>
        <p:spPr>
          <a:xfrm>
            <a:off x="544631" y="2158348"/>
            <a:ext cx="408545" cy="358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06861" y="2551838"/>
            <a:ext cx="933817" cy="818381"/>
          </a:xfrm>
          <a:prstGeom prst="ellipse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Text 7"/>
          <p:cNvSpPr/>
          <p:nvPr/>
        </p:nvSpPr>
        <p:spPr>
          <a:xfrm>
            <a:off x="1106861" y="2551838"/>
            <a:ext cx="933817" cy="818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37079" y="3354597"/>
            <a:ext cx="2159452" cy="716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9944" y="4003441"/>
            <a:ext cx="2387705" cy="14321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internet to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language patterns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predict the next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3602" y="3505389"/>
            <a:ext cx="291818" cy="613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3325216" y="2369575"/>
            <a:ext cx="2375918" cy="310018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4" name="Shape 12"/>
          <p:cNvSpPr/>
          <p:nvPr/>
        </p:nvSpPr>
        <p:spPr>
          <a:xfrm>
            <a:off x="3489912" y="2190554"/>
            <a:ext cx="408545" cy="35804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Text 13"/>
          <p:cNvSpPr/>
          <p:nvPr/>
        </p:nvSpPr>
        <p:spPr>
          <a:xfrm>
            <a:off x="3489912" y="2190554"/>
            <a:ext cx="408545" cy="358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85885" y="2547976"/>
            <a:ext cx="933817" cy="818381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Text 15"/>
          <p:cNvSpPr/>
          <p:nvPr/>
        </p:nvSpPr>
        <p:spPr>
          <a:xfrm>
            <a:off x="4085885" y="2547976"/>
            <a:ext cx="933817" cy="818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334449" y="3471422"/>
            <a:ext cx="2432019" cy="716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Fine-Tuning 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(SFT)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0185" y="3907289"/>
            <a:ext cx="2112761" cy="14321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good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provided by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(Q&amp;A).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99515" y="3505389"/>
            <a:ext cx="291818" cy="613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6360098" y="2321361"/>
            <a:ext cx="2394023" cy="31238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2" name="Shape 20"/>
          <p:cNvSpPr/>
          <p:nvPr/>
        </p:nvSpPr>
        <p:spPr>
          <a:xfrm>
            <a:off x="6548716" y="2145991"/>
            <a:ext cx="408545" cy="35804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3" name="Text 21"/>
          <p:cNvSpPr/>
          <p:nvPr/>
        </p:nvSpPr>
        <p:spPr>
          <a:xfrm>
            <a:off x="6548716" y="2145991"/>
            <a:ext cx="408545" cy="358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79148" y="2567683"/>
            <a:ext cx="933817" cy="818381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3"/>
          <p:cNvSpPr/>
          <p:nvPr/>
        </p:nvSpPr>
        <p:spPr>
          <a:xfrm>
            <a:off x="7079148" y="2567683"/>
            <a:ext cx="933817" cy="818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466330" y="3442939"/>
            <a:ext cx="2159452" cy="716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(Preferences)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48716" y="4021132"/>
            <a:ext cx="2159452" cy="14321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what people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prefer by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two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22886" y="3505390"/>
            <a:ext cx="291818" cy="613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4200" dirty="0"/>
          </a:p>
        </p:txBody>
      </p:sp>
      <p:sp>
        <p:nvSpPr>
          <p:cNvPr id="29" name="Shape 27"/>
          <p:cNvSpPr/>
          <p:nvPr/>
        </p:nvSpPr>
        <p:spPr>
          <a:xfrm>
            <a:off x="9408458" y="2329491"/>
            <a:ext cx="2405082" cy="313823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1" name="Text 29"/>
          <p:cNvSpPr/>
          <p:nvPr/>
        </p:nvSpPr>
        <p:spPr>
          <a:xfrm>
            <a:off x="9531273" y="2164900"/>
            <a:ext cx="408545" cy="358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110682" y="2567683"/>
            <a:ext cx="933817" cy="818381"/>
          </a:xfrm>
          <a:prstGeom prst="ellipse">
            <a:avLst/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endParaRPr lang="en-FR" dirty="0"/>
          </a:p>
        </p:txBody>
      </p:sp>
      <p:sp>
        <p:nvSpPr>
          <p:cNvPr id="33" name="Text 31"/>
          <p:cNvSpPr/>
          <p:nvPr/>
        </p:nvSpPr>
        <p:spPr>
          <a:xfrm>
            <a:off x="10110682" y="2567683"/>
            <a:ext cx="933817" cy="818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9531273" y="3403092"/>
            <a:ext cx="2159452" cy="716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(Practice)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609625" y="4021132"/>
            <a:ext cx="2159452" cy="14321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complex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through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practice and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82880" y="6126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748903" y="62719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from a basic text generator into a safer, clearer, and smarter assistant ready to help you.</a:t>
            </a:r>
            <a:endParaRPr lang="en-US" sz="1600" dirty="0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FDFCCFD2-3EA7-525C-E68B-DC196D0E73A8}"/>
              </a:ext>
            </a:extLst>
          </p:cNvPr>
          <p:cNvSpPr/>
          <p:nvPr/>
        </p:nvSpPr>
        <p:spPr>
          <a:xfrm>
            <a:off x="9589122" y="2150470"/>
            <a:ext cx="408545" cy="35804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07A1CF91-34D5-BB4E-4329-CD9EC9F0A98E}"/>
              </a:ext>
            </a:extLst>
          </p:cNvPr>
          <p:cNvSpPr/>
          <p:nvPr/>
        </p:nvSpPr>
        <p:spPr>
          <a:xfrm>
            <a:off x="9589122" y="2145991"/>
            <a:ext cx="408545" cy="358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291840" cy="329184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2834640" cy="2834640"/>
          </a:xfrm>
          <a:prstGeom prst="ellipse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3"/>
          <p:cNvSpPr/>
          <p:nvPr/>
        </p:nvSpPr>
        <p:spPr>
          <a:xfrm>
            <a:off x="1508760" y="2322801"/>
            <a:ext cx="16459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1508760" y="2382012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11480" y="52365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“Library” Phase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49240" y="868680"/>
            <a:ext cx="1371600" cy="34747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Text 7"/>
          <p:cNvSpPr/>
          <p:nvPr/>
        </p:nvSpPr>
        <p:spPr>
          <a:xfrm>
            <a:off x="5486400" y="93268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49240" y="13258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(Pretraining)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509260" y="2194708"/>
            <a:ext cx="6629400" cy="136100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10"/>
          <p:cNvSpPr/>
          <p:nvPr/>
        </p:nvSpPr>
        <p:spPr>
          <a:xfrm>
            <a:off x="5349240" y="214884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Text 11"/>
          <p:cNvSpPr/>
          <p:nvPr/>
        </p:nvSpPr>
        <p:spPr>
          <a:xfrm>
            <a:off x="5577840" y="22677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251460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locking someone in a giant library for 10 years. They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write fluently and know a lot of facts, but they haven’t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how to have a conversation yet.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8926" y="3802734"/>
            <a:ext cx="532691" cy="532691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FR" dirty="0"/>
          </a:p>
        </p:txBody>
      </p:sp>
      <p:sp>
        <p:nvSpPr>
          <p:cNvPr id="16" name="Text 14"/>
          <p:cNvSpPr/>
          <p:nvPr/>
        </p:nvSpPr>
        <p:spPr>
          <a:xfrm>
            <a:off x="5402896" y="3863955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989320" y="383133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89320" y="398862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next word in a sentence to complete the pattern.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49239" y="4676571"/>
            <a:ext cx="522377" cy="522377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0" name="Text 18"/>
          <p:cNvSpPr/>
          <p:nvPr/>
        </p:nvSpPr>
        <p:spPr>
          <a:xfrm>
            <a:off x="5364737" y="4750497"/>
            <a:ext cx="522377" cy="522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989320" y="4693583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89320" y="4864583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Incredible knowledge base and fluent writing skills.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338926" y="5609869"/>
            <a:ext cx="522377" cy="522377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FR" sz="3200"/>
          </a:p>
        </p:txBody>
      </p:sp>
      <p:sp>
        <p:nvSpPr>
          <p:cNvPr id="24" name="Text 22"/>
          <p:cNvSpPr/>
          <p:nvPr/>
        </p:nvSpPr>
        <p:spPr>
          <a:xfrm>
            <a:off x="5384647" y="568302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989320" y="5609869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89320" y="578815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understand user intent, politeness, or specific preferences.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21">
            <a:extLst>
              <a:ext uri="{FF2B5EF4-FFF2-40B4-BE49-F238E27FC236}">
                <a16:creationId xmlns:a16="http://schemas.microsoft.com/office/drawing/2014/main" id="{16266861-3991-0C62-9186-DC95A5A2ACC9}"/>
              </a:ext>
            </a:extLst>
          </p:cNvPr>
          <p:cNvSpPr/>
          <p:nvPr/>
        </p:nvSpPr>
        <p:spPr>
          <a:xfrm>
            <a:off x="5338926" y="5609869"/>
            <a:ext cx="522377" cy="522377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FR" sz="3200"/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6FEEE0A3-F86B-1E46-20F2-812A89CECD3A}"/>
              </a:ext>
            </a:extLst>
          </p:cNvPr>
          <p:cNvSpPr/>
          <p:nvPr/>
        </p:nvSpPr>
        <p:spPr>
          <a:xfrm>
            <a:off x="5349239" y="4676571"/>
            <a:ext cx="522377" cy="522377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FR" sz="2800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46F8BC21-84B5-2068-6D18-6DA8026398C6}"/>
              </a:ext>
            </a:extLst>
          </p:cNvPr>
          <p:cNvSpPr/>
          <p:nvPr/>
        </p:nvSpPr>
        <p:spPr>
          <a:xfrm>
            <a:off x="5338926" y="3802734"/>
            <a:ext cx="532691" cy="532691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FR" dirty="0"/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167882C1-089B-9C06-0490-05254BAD8735}"/>
              </a:ext>
            </a:extLst>
          </p:cNvPr>
          <p:cNvSpPr/>
          <p:nvPr/>
        </p:nvSpPr>
        <p:spPr>
          <a:xfrm>
            <a:off x="5509260" y="2194708"/>
            <a:ext cx="6629400" cy="136100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291840" cy="329184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2834640" cy="2834640"/>
          </a:xfrm>
          <a:prstGeom prst="ellipse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3"/>
          <p:cNvSpPr/>
          <p:nvPr/>
        </p:nvSpPr>
        <p:spPr>
          <a:xfrm>
            <a:off x="1508760" y="2331720"/>
            <a:ext cx="16459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1508760" y="23317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🧑‍🏫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63880" y="5186171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“Classroom” Phase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49240" y="868680"/>
            <a:ext cx="1371600" cy="34747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Text 7"/>
          <p:cNvSpPr/>
          <p:nvPr/>
        </p:nvSpPr>
        <p:spPr>
          <a:xfrm>
            <a:off x="5486400" y="93268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49240" y="13258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Chat (SFT)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349240" y="214884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Text 11"/>
          <p:cNvSpPr/>
          <p:nvPr/>
        </p:nvSpPr>
        <p:spPr>
          <a:xfrm>
            <a:off x="5577840" y="22677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251460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student using a textbook with worked examples. The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shows them exactly how to answer questions correctly,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they practice by copying that style.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94959" y="3891967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89320" y="377647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Add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89320" y="397764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teach the model to be polite, concise, and follow instructions.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22392" y="4727447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989320" y="46085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89320" y="484174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stops just "predicting text" and starts acting like a helpful</a:t>
            </a:r>
            <a:r>
              <a:rPr lang="en-US" sz="1500" dirty="0"/>
              <a:t> 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89320" y="558811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Missing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89320" y="5785104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can't judge which of two good answers is slightly better for you.</a:t>
            </a:r>
            <a:endParaRPr lang="en-US" sz="1500" dirty="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329235D3-1478-D53F-3162-20FFC837BD3B}"/>
              </a:ext>
            </a:extLst>
          </p:cNvPr>
          <p:cNvSpPr/>
          <p:nvPr/>
        </p:nvSpPr>
        <p:spPr>
          <a:xfrm>
            <a:off x="5384647" y="568302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17">
            <a:extLst>
              <a:ext uri="{FF2B5EF4-FFF2-40B4-BE49-F238E27FC236}">
                <a16:creationId xmlns:a16="http://schemas.microsoft.com/office/drawing/2014/main" id="{9787038C-8915-CB95-10DA-A916CF4C61CA}"/>
              </a:ext>
            </a:extLst>
          </p:cNvPr>
          <p:cNvSpPr/>
          <p:nvPr/>
        </p:nvSpPr>
        <p:spPr>
          <a:xfrm>
            <a:off x="5349887" y="5619916"/>
            <a:ext cx="522377" cy="522377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FR" sz="2800"/>
          </a:p>
        </p:txBody>
      </p:sp>
      <p:sp>
        <p:nvSpPr>
          <p:cNvPr id="32" name="Shape 17">
            <a:extLst>
              <a:ext uri="{FF2B5EF4-FFF2-40B4-BE49-F238E27FC236}">
                <a16:creationId xmlns:a16="http://schemas.microsoft.com/office/drawing/2014/main" id="{F840FBA2-35DC-2F9A-0CAA-E26EC68316B0}"/>
              </a:ext>
            </a:extLst>
          </p:cNvPr>
          <p:cNvSpPr/>
          <p:nvPr/>
        </p:nvSpPr>
        <p:spPr>
          <a:xfrm>
            <a:off x="5349239" y="4676571"/>
            <a:ext cx="522377" cy="522377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FR" sz="2800"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86795E06-233F-31D2-AEC9-4DA6DFDDC341}"/>
              </a:ext>
            </a:extLst>
          </p:cNvPr>
          <p:cNvSpPr/>
          <p:nvPr/>
        </p:nvSpPr>
        <p:spPr>
          <a:xfrm>
            <a:off x="5338926" y="3802734"/>
            <a:ext cx="532691" cy="532691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FR" dirty="0"/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80383B6-D663-CE05-B892-681F93AB69F8}"/>
              </a:ext>
            </a:extLst>
          </p:cNvPr>
          <p:cNvSpPr/>
          <p:nvPr/>
        </p:nvSpPr>
        <p:spPr>
          <a:xfrm>
            <a:off x="5509260" y="2194708"/>
            <a:ext cx="6629400" cy="136100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291840" cy="329184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2834640" cy="2834640"/>
          </a:xfrm>
          <a:prstGeom prst="ellipse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3"/>
          <p:cNvSpPr/>
          <p:nvPr/>
        </p:nvSpPr>
        <p:spPr>
          <a:xfrm>
            <a:off x="1508760" y="2331720"/>
            <a:ext cx="16459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1508760" y="23317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04993" y="519379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“Taste Test” Phase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49240" y="868680"/>
            <a:ext cx="1371600" cy="347472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Text 7"/>
          <p:cNvSpPr/>
          <p:nvPr/>
        </p:nvSpPr>
        <p:spPr>
          <a:xfrm>
            <a:off x="5486400" y="93268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49240" y="13258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via DPO (Comparisons)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349240" y="214884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Text 11"/>
          <p:cNvSpPr/>
          <p:nvPr/>
        </p:nvSpPr>
        <p:spPr>
          <a:xfrm>
            <a:off x="5577840" y="22677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251460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taste test: You try Dish A and Dish B, then simply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the tastier one. The chef learns your preferences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from your choice, without needing a complicated score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89320" y="375818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89320" y="397764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the model two answers; it learns to shift towards</a:t>
            </a:r>
            <a:r>
              <a:rPr lang="en-US" sz="1500" dirty="0"/>
              <a:t> 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"winning” one.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89320" y="46451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89320" y="485089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tone, safety, and things that are hard to grade</a:t>
            </a:r>
            <a:r>
              <a:rPr lang="en-US" sz="1500" dirty="0"/>
              <a:t> 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easy to compare.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89320" y="551383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Advantage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89320" y="578815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than older methods (PPO), no separate "judge" model</a:t>
            </a:r>
            <a:r>
              <a:rPr lang="en-US" sz="1500" dirty="0"/>
              <a:t> 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required, making training faster.</a:t>
            </a:r>
            <a:endParaRPr lang="en-US" sz="1500" dirty="0"/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1F90DB0C-627E-4E88-626F-088F14697144}"/>
              </a:ext>
            </a:extLst>
          </p:cNvPr>
          <p:cNvSpPr/>
          <p:nvPr/>
        </p:nvSpPr>
        <p:spPr>
          <a:xfrm>
            <a:off x="5364737" y="4750497"/>
            <a:ext cx="522377" cy="522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FC41E6A1-C559-0CFC-305F-0D795194C9C0}"/>
              </a:ext>
            </a:extLst>
          </p:cNvPr>
          <p:cNvSpPr/>
          <p:nvPr/>
        </p:nvSpPr>
        <p:spPr>
          <a:xfrm>
            <a:off x="5422392" y="5660745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C4D76C-AA6D-181B-4C94-71E87A5ACE84}"/>
              </a:ext>
            </a:extLst>
          </p:cNvPr>
          <p:cNvSpPr txBox="1"/>
          <p:nvPr/>
        </p:nvSpPr>
        <p:spPr>
          <a:xfrm>
            <a:off x="5396534" y="3895065"/>
            <a:ext cx="449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000" dirty="0"/>
              <a:t>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21">
            <a:extLst>
              <a:ext uri="{FF2B5EF4-FFF2-40B4-BE49-F238E27FC236}">
                <a16:creationId xmlns:a16="http://schemas.microsoft.com/office/drawing/2014/main" id="{D20F1A45-7A15-49F8-EBBF-25F7D3559195}"/>
              </a:ext>
            </a:extLst>
          </p:cNvPr>
          <p:cNvSpPr/>
          <p:nvPr/>
        </p:nvSpPr>
        <p:spPr>
          <a:xfrm>
            <a:off x="5338926" y="5609869"/>
            <a:ext cx="522377" cy="522377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FR" sz="3200"/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EC792E29-A73B-505F-9522-57D29B411BDA}"/>
              </a:ext>
            </a:extLst>
          </p:cNvPr>
          <p:cNvSpPr/>
          <p:nvPr/>
        </p:nvSpPr>
        <p:spPr>
          <a:xfrm>
            <a:off x="5349239" y="4676571"/>
            <a:ext cx="522377" cy="522377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FR" sz="2800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77F8BF32-4288-258D-B2D9-5CCA4995D3B7}"/>
              </a:ext>
            </a:extLst>
          </p:cNvPr>
          <p:cNvSpPr/>
          <p:nvPr/>
        </p:nvSpPr>
        <p:spPr>
          <a:xfrm>
            <a:off x="5338926" y="3802734"/>
            <a:ext cx="532691" cy="532691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FR" dirty="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FADAD1FA-E4A6-B535-B2A6-1A134ADA1715}"/>
              </a:ext>
            </a:extLst>
          </p:cNvPr>
          <p:cNvSpPr/>
          <p:nvPr/>
        </p:nvSpPr>
        <p:spPr>
          <a:xfrm>
            <a:off x="5509260" y="2194708"/>
            <a:ext cx="6629400" cy="136100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" y="1417320"/>
            <a:ext cx="3291840" cy="329184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2834640" cy="2834640"/>
          </a:xfrm>
          <a:prstGeom prst="ellipse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1508760" y="2331720"/>
            <a:ext cx="16459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8760" y="2423159"/>
            <a:ext cx="16459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0" dirty="0">
                <a:solidFill>
                  <a:srgbClr val="7C3AED"/>
                </a:solidFill>
                <a:latin typeface="Calibri"/>
              </a:rPr>
              <a:t>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" y="5205964"/>
            <a:ext cx="4251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334155"/>
                </a:solidFill>
                <a:latin typeface="Calibri"/>
              </a:rPr>
              <a:t>The "Training Camp" Phase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868680"/>
            <a:ext cx="1371600" cy="347472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57800" y="93268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C3AED"/>
                </a:solidFill>
                <a:latin typeface="Calibri"/>
              </a:rPr>
              <a:t>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93268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STAGE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325880"/>
            <a:ext cx="6949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>
                <a:solidFill>
                  <a:srgbClr val="0F172A"/>
                </a:solidFill>
                <a:latin typeface="Calibri"/>
              </a:rPr>
              <a:t>Practice (GRPO)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2148840"/>
            <a:ext cx="73152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77840" y="226771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THE ANALOGY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514600"/>
            <a:ext cx="6492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1E293B"/>
                </a:solidFill>
                <a:latin typeface="Calibri"/>
              </a:rPr>
              <a:t>Like a player practicing free throws. They take 10 shots in a row,</a:t>
            </a:r>
            <a:r>
              <a:rPr lang="fr-FR" sz="16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600" b="1" dirty="0">
                <a:solidFill>
                  <a:srgbClr val="1E293B"/>
                </a:solidFill>
                <a:latin typeface="Calibri"/>
              </a:rPr>
              <a:t>and the coach scores each one (swish=10, rim=5, miss=0). The</a:t>
            </a:r>
            <a:r>
              <a:rPr lang="fr-FR" sz="16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600" b="1" dirty="0">
                <a:solidFill>
                  <a:srgbClr val="1E293B"/>
                </a:solidFill>
                <a:latin typeface="Calibri"/>
              </a:rPr>
              <a:t>player learns from the best shots in the group.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679237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111827"/>
                </a:solidFill>
                <a:latin typeface="Calibri"/>
              </a:rPr>
              <a:t>How It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19" y="3951315"/>
            <a:ext cx="642706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64748B"/>
                </a:solidFill>
                <a:latin typeface="Calibri"/>
              </a:rPr>
              <a:t>The model generates multiple answers for one problem. Each gets a</a:t>
            </a:r>
            <a:r>
              <a:rPr lang="fr-FR" sz="1500" dirty="0">
                <a:solidFill>
                  <a:srgbClr val="64748B"/>
                </a:solidFill>
                <a:latin typeface="Calibri"/>
              </a:rPr>
              <a:t> </a:t>
            </a:r>
            <a:r>
              <a:rPr sz="1500" b="0" dirty="0">
                <a:solidFill>
                  <a:srgbClr val="64748B"/>
                </a:solidFill>
                <a:latin typeface="Calibri"/>
              </a:rPr>
              <a:t>score</a:t>
            </a:r>
            <a:r>
              <a:rPr lang="fr-FR" sz="1500" b="0" dirty="0">
                <a:solidFill>
                  <a:srgbClr val="64748B"/>
                </a:solidFill>
                <a:latin typeface="Calibri"/>
              </a:rPr>
              <a:t>.</a:t>
            </a:r>
          </a:p>
          <a:p>
            <a:pPr algn="l"/>
            <a:r>
              <a:rPr lang="fr-FR" sz="1500" dirty="0">
                <a:solidFill>
                  <a:srgbClr val="64748B"/>
                </a:solidFill>
                <a:latin typeface="Calibri"/>
              </a:rPr>
              <a:t>The model </a:t>
            </a:r>
            <a:r>
              <a:rPr sz="1500" b="0" dirty="0">
                <a:solidFill>
                  <a:srgbClr val="64748B"/>
                </a:solidFill>
                <a:latin typeface="Calibri"/>
              </a:rPr>
              <a:t>learns to </a:t>
            </a:r>
            <a:r>
              <a:rPr lang="fr-FR" sz="1500" b="0" dirty="0" err="1">
                <a:solidFill>
                  <a:srgbClr val="64748B"/>
                </a:solidFill>
                <a:latin typeface="Calibri"/>
              </a:rPr>
              <a:t>maximize</a:t>
            </a:r>
            <a:r>
              <a:rPr lang="fr-FR" sz="1500" b="0" dirty="0">
                <a:solidFill>
                  <a:srgbClr val="64748B"/>
                </a:solidFill>
                <a:latin typeface="Calibri"/>
              </a:rPr>
              <a:t> </a:t>
            </a:r>
            <a:r>
              <a:rPr lang="fr-FR" sz="1500" b="0" dirty="0" err="1">
                <a:solidFill>
                  <a:srgbClr val="64748B"/>
                </a:solidFill>
                <a:latin typeface="Calibri"/>
              </a:rPr>
              <a:t>its</a:t>
            </a:r>
            <a:r>
              <a:rPr lang="fr-FR" sz="1500" b="0" dirty="0">
                <a:solidFill>
                  <a:srgbClr val="64748B"/>
                </a:solidFill>
                <a:latin typeface="Calibri"/>
              </a:rPr>
              <a:t> score</a:t>
            </a:r>
            <a:r>
              <a:rPr sz="1500" b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115" y="4750308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10B981"/>
                </a:solidFill>
                <a:latin typeface="Calibri"/>
              </a:rPr>
              <a:t>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570660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111827"/>
                </a:solidFill>
                <a:latin typeface="Calibri"/>
              </a:rPr>
              <a:t>Best For Reasoning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19" y="4896612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64748B"/>
                </a:solidFill>
                <a:latin typeface="Calibri"/>
              </a:rPr>
              <a:t>Ideal for Math, Coding, and Logic puzzles where there is a clear "right"
or "wrong" outcome.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5513832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Calibri"/>
              </a:rPr>
              <a:t>The Trade-off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5788152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Takes more time and computing power because it has to generate and
check multiple attempts at once.</a:t>
            </a:r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7F81C4D9-0F45-72CD-2055-7AA7BF6700ED}"/>
              </a:ext>
            </a:extLst>
          </p:cNvPr>
          <p:cNvSpPr/>
          <p:nvPr/>
        </p:nvSpPr>
        <p:spPr>
          <a:xfrm>
            <a:off x="5384647" y="568302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72A756-1D87-E1B2-2827-DC02E07DAA17}"/>
              </a:ext>
            </a:extLst>
          </p:cNvPr>
          <p:cNvSpPr txBox="1"/>
          <p:nvPr/>
        </p:nvSpPr>
        <p:spPr>
          <a:xfrm>
            <a:off x="5396534" y="3895065"/>
            <a:ext cx="449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000" dirty="0"/>
              <a:t>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 of advanced training techniques like DPO and GRPO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41404" y="5010912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" name="Shape 4"/>
          <p:cNvSpPr/>
          <p:nvPr/>
        </p:nvSpPr>
        <p:spPr>
          <a:xfrm>
            <a:off x="1129983" y="2468880"/>
            <a:ext cx="502920" cy="5029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Text 6"/>
          <p:cNvSpPr/>
          <p:nvPr/>
        </p:nvSpPr>
        <p:spPr>
          <a:xfrm>
            <a:off x="1732711" y="21873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33640" y="2541722"/>
            <a:ext cx="4392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ensures bots are polite, empathetic, and consistent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24/7, reducing frustration for human users.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52044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1" name="Shape 9"/>
          <p:cNvSpPr/>
          <p:nvPr/>
        </p:nvSpPr>
        <p:spPr>
          <a:xfrm>
            <a:off x="1143000" y="3817620"/>
            <a:ext cx="50292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Text 10"/>
          <p:cNvSpPr/>
          <p:nvPr/>
        </p:nvSpPr>
        <p:spPr>
          <a:xfrm>
            <a:off x="1143000" y="3875351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32711" y="360955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2711" y="392959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teach the model to explain complex math and science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step-by-step instead of just giving the answer.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93776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6" name="Shape 14"/>
          <p:cNvSpPr/>
          <p:nvPr/>
        </p:nvSpPr>
        <p:spPr>
          <a:xfrm>
            <a:off x="1143000" y="5289184"/>
            <a:ext cx="502920" cy="5029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Text 15"/>
          <p:cNvSpPr/>
          <p:nvPr/>
        </p:nvSpPr>
        <p:spPr>
          <a:xfrm>
            <a:off x="1143000" y="5316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32711" y="502687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32711" y="534691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writing assistants that adapt to your personal style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summarize meetings accurately without hallucinating.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2103120"/>
            <a:ext cx="4800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1" name="Shape 19"/>
          <p:cNvSpPr/>
          <p:nvPr/>
        </p:nvSpPr>
        <p:spPr>
          <a:xfrm>
            <a:off x="6720840" y="2468880"/>
            <a:ext cx="502920" cy="502920"/>
          </a:xfrm>
          <a:prstGeom prst="roundRect">
            <a:avLst/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20"/>
          <p:cNvSpPr/>
          <p:nvPr/>
        </p:nvSpPr>
        <p:spPr>
          <a:xfrm>
            <a:off x="67208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60920" y="2190027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&amp; Engineering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60920" y="26060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produce fewer bugs and offer safer, more efficient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suggestions by "practicing" on millions of scenarios.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3520440"/>
            <a:ext cx="4800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6" name="Shape 24"/>
          <p:cNvSpPr/>
          <p:nvPr/>
        </p:nvSpPr>
        <p:spPr>
          <a:xfrm>
            <a:off x="6720840" y="3863340"/>
            <a:ext cx="502920" cy="5029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7" name="Text 25"/>
          <p:cNvSpPr/>
          <p:nvPr/>
        </p:nvSpPr>
        <p:spPr>
          <a:xfrm>
            <a:off x="6720840" y="38907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360920" y="3604441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Smart Agents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360920" y="3924481"/>
            <a:ext cx="39993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follow complex instructions precisely, ask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clarifying questions, and avoid confident but wrong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answers.</a:t>
            </a:r>
            <a:endParaRPr lang="en-US" sz="120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388FBB7E-0BE9-4F58-1E0D-57303BA40A47}"/>
              </a:ext>
            </a:extLst>
          </p:cNvPr>
          <p:cNvSpPr/>
          <p:nvPr/>
        </p:nvSpPr>
        <p:spPr>
          <a:xfrm>
            <a:off x="1217703" y="2556600"/>
            <a:ext cx="327479" cy="327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F172A"/>
                </a:solidFill>
                <a:latin typeface="Calibri"/>
              </a:rPr>
              <a:t>DPO vs GRPO: When To Use Which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64748B"/>
                </a:solidFill>
                <a:latin typeface="Calibri"/>
              </a:rPr>
              <a:t>Two different </a:t>
            </a:r>
            <a:r>
              <a:rPr lang="fr-FR" sz="1600" b="0" dirty="0" err="1">
                <a:solidFill>
                  <a:srgbClr val="64748B"/>
                </a:solidFill>
                <a:latin typeface="Calibri"/>
              </a:rPr>
              <a:t>methods</a:t>
            </a:r>
            <a:r>
              <a:rPr sz="1600" b="0" dirty="0">
                <a:solidFill>
                  <a:srgbClr val="64748B"/>
                </a:solidFill>
                <a:latin typeface="Calibri"/>
              </a:rPr>
              <a:t> for two different types of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18250"/>
            <a:ext cx="5227167" cy="5212080"/>
          </a:xfrm>
          <a:prstGeom prst="roundRect">
            <a:avLst>
              <a:gd name="adj" fmla="val 626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39819" y="1325880"/>
            <a:ext cx="5227167" cy="5212080"/>
          </a:xfrm>
          <a:prstGeom prst="roundRect">
            <a:avLst>
              <a:gd name="adj" fmla="val 700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6624982"/>
            <a:ext cx="5227167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39819" y="6633971"/>
            <a:ext cx="5227167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" y="1546850"/>
            <a:ext cx="731520" cy="7315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496" y="1607758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 dirty="0">
                <a:solidFill>
                  <a:srgbClr val="2563EB"/>
                </a:solidFill>
                <a:latin typeface="Calibri"/>
              </a:rPr>
              <a:t>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5579" y="1554480"/>
            <a:ext cx="731520" cy="73152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05579" y="1609033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 dirty="0">
                <a:solidFill>
                  <a:srgbClr val="F97316"/>
                </a:solidFill>
                <a:latin typeface="Calibri"/>
              </a:rPr>
              <a:t>🏋️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39" y="1592570"/>
            <a:ext cx="113990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DPO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39" y="2024541"/>
            <a:ext cx="367268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64748B"/>
                </a:solidFill>
                <a:latin typeface="Calibri"/>
              </a:rPr>
              <a:t>Direct Preference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4260" y="1600200"/>
            <a:ext cx="1470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GRPO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4259" y="2024063"/>
            <a:ext cx="367268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64748B"/>
                </a:solidFill>
                <a:latin typeface="Calibri"/>
              </a:rPr>
              <a:t>Group Relative Policy Optimization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39" y="2479538"/>
            <a:ext cx="458708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9859" y="2423160"/>
            <a:ext cx="458708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261522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94A3B8"/>
                </a:solidFill>
                <a:latin typeface="Calibri"/>
              </a:rPr>
              <a:t>THE 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1299" y="25146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THE GOAL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2587792"/>
            <a:ext cx="33983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Calibri"/>
              </a:rPr>
              <a:t>Align response style &amp; tone with human tastes.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4299" y="2487168"/>
            <a:ext cx="33983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Calibri"/>
              </a:rPr>
              <a:t>Improve reasoning &amp; correctness on hard tasks.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38" y="3006828"/>
            <a:ext cx="458708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9859" y="3014458"/>
            <a:ext cx="458708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5820" y="324201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94A3B8"/>
                </a:solidFill>
                <a:latin typeface="Calibri"/>
              </a:rPr>
              <a:t>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6503" y="3282669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94A3B8"/>
                </a:solidFill>
                <a:latin typeface="Calibri"/>
              </a:rPr>
              <a:t>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88820" y="3180407"/>
            <a:ext cx="33983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0F172A"/>
                </a:solidFill>
                <a:latin typeface="Calibri"/>
              </a:rPr>
              <a:t>⚖️  Pairwise Choice (A vs B)
"Answer A is better than Answer B"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6560" y="3141492"/>
            <a:ext cx="33983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0F172A"/>
                </a:solidFill>
                <a:latin typeface="Calibri"/>
              </a:rPr>
              <a:t>⭐  Scored Outcomes
"Did it solve the math problem</a:t>
            </a:r>
            <a:r>
              <a:rPr lang="fr-FR" sz="1200" dirty="0">
                <a:solidFill>
                  <a:srgbClr val="0F172A"/>
                </a:solidFill>
                <a:latin typeface="Calibri"/>
              </a:rPr>
              <a:t>?</a:t>
            </a:r>
            <a:r>
              <a:rPr sz="1200" b="0" dirty="0">
                <a:solidFill>
                  <a:srgbClr val="0F172A"/>
                </a:solidFill>
                <a:latin typeface="Calibri"/>
              </a:rPr>
              <a:t>"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7239" y="3782828"/>
            <a:ext cx="458708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859859" y="3837418"/>
            <a:ext cx="458708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68680" y="4013055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94A3B8"/>
                </a:solidFill>
                <a:latin typeface="Calibri"/>
              </a:rPr>
              <a:t>BEST FOR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1299" y="4105629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BEST FOR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3923585"/>
            <a:ext cx="33983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0F172A"/>
                </a:solidFill>
                <a:latin typeface="Calibri"/>
              </a:rPr>
              <a:t>Safety, helpfulness, brand voice, creative writing,
avoiding toxicity.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57442" y="4043338"/>
            <a:ext cx="33983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0F172A"/>
                </a:solidFill>
                <a:latin typeface="Calibri"/>
              </a:rPr>
              <a:t>Math, coding, logic puzzles, multi-step agent
actions.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00099" y="4520547"/>
            <a:ext cx="458708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859859" y="4660378"/>
            <a:ext cx="458708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68983" y="48922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94A3B8"/>
                </a:solidFill>
                <a:latin typeface="Calibri"/>
              </a:rPr>
              <a:t>COST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1602" y="4928589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94A3B8"/>
                </a:solidFill>
                <a:latin typeface="Calibri"/>
              </a:rPr>
              <a:t>COST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11680" y="4654066"/>
            <a:ext cx="1417320" cy="256032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011680" y="4646927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059669"/>
                </a:solidFill>
                <a:latin typeface="Calibri"/>
              </a:rPr>
              <a:t>Lower Complexity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55087" y="5027527"/>
            <a:ext cx="36726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Calibri"/>
              </a:rPr>
              <a:t>Simpler to setup, no separate reward model</a:t>
            </a:r>
            <a:r>
              <a:rPr lang="fr-FR" sz="12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b="1" dirty="0">
                <a:solidFill>
                  <a:srgbClr val="0F172A"/>
                </a:solidFill>
                <a:latin typeface="Calibri"/>
              </a:rPr>
              <a:t>needed.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94299" y="4767749"/>
            <a:ext cx="1417320" cy="256032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07061" y="4765409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C2410C"/>
                </a:solidFill>
                <a:latin typeface="Calibri"/>
              </a:rPr>
              <a:t>Higher Complexity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37706" y="5093027"/>
            <a:ext cx="3511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Calibri"/>
              </a:rPr>
              <a:t>Requires generating many samples (practice)</a:t>
            </a:r>
            <a:r>
              <a:rPr lang="fr-FR" sz="1200" b="1" dirty="0">
                <a:solidFill>
                  <a:srgbClr val="0F172A"/>
                </a:solidFill>
                <a:latin typeface="Calibri"/>
              </a:rPr>
              <a:t>.</a:t>
            </a:r>
            <a:endParaRPr sz="1200" b="1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822960" y="5552968"/>
            <a:ext cx="4587087" cy="7315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5758" y="5647087"/>
            <a:ext cx="42213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2563EB"/>
                </a:solidFill>
                <a:latin typeface="Calibri"/>
              </a:rPr>
              <a:t>Example Scenario: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5885938"/>
            <a:ext cx="45870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0F172A"/>
                </a:solidFill>
                <a:latin typeface="Calibri"/>
              </a:rPr>
              <a:t>Teaching an AI to write a polite, empathetic customer service email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9859" y="5555088"/>
            <a:ext cx="4587087" cy="73152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05579" y="5654717"/>
            <a:ext cx="42213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F97316"/>
                </a:solidFill>
                <a:latin typeface="Calibri"/>
              </a:rPr>
              <a:t>Example Scenario: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5579" y="5855885"/>
            <a:ext cx="4221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0F172A"/>
                </a:solidFill>
                <a:latin typeface="Calibri"/>
              </a:rPr>
              <a:t>Training an AI to solve a complex calculus problem step-by-step</a:t>
            </a:r>
          </a:p>
        </p:txBody>
      </p:sp>
      <p:sp>
        <p:nvSpPr>
          <p:cNvPr id="54" name="Oval 53"/>
          <p:cNvSpPr/>
          <p:nvPr/>
        </p:nvSpPr>
        <p:spPr>
          <a:xfrm>
            <a:off x="5886270" y="37828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886270" y="378282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94A3B8"/>
                </a:solidFill>
                <a:latin typeface="Calibri"/>
              </a:rPr>
              <a:t>VS</a:t>
            </a:r>
          </a:p>
        </p:txBody>
      </p:sp>
      <p:cxnSp>
        <p:nvCxnSpPr>
          <p:cNvPr id="56" name="Connector 37">
            <a:extLst>
              <a:ext uri="{FF2B5EF4-FFF2-40B4-BE49-F238E27FC236}">
                <a16:creationId xmlns:a16="http://schemas.microsoft.com/office/drawing/2014/main" id="{225589AD-02D8-3FD5-5F75-001B6BE20AC1}"/>
              </a:ext>
            </a:extLst>
          </p:cNvPr>
          <p:cNvCxnSpPr/>
          <p:nvPr/>
        </p:nvCxnSpPr>
        <p:spPr>
          <a:xfrm>
            <a:off x="800099" y="5434947"/>
            <a:ext cx="458708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37">
            <a:extLst>
              <a:ext uri="{FF2B5EF4-FFF2-40B4-BE49-F238E27FC236}">
                <a16:creationId xmlns:a16="http://schemas.microsoft.com/office/drawing/2014/main" id="{BC2EA30B-1E6A-9BCB-CC9C-F5292AFAED77}"/>
              </a:ext>
            </a:extLst>
          </p:cNvPr>
          <p:cNvCxnSpPr/>
          <p:nvPr/>
        </p:nvCxnSpPr>
        <p:spPr>
          <a:xfrm>
            <a:off x="6859858" y="5442666"/>
            <a:ext cx="458708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26">
            <a:extLst>
              <a:ext uri="{FF2B5EF4-FFF2-40B4-BE49-F238E27FC236}">
                <a16:creationId xmlns:a16="http://schemas.microsoft.com/office/drawing/2014/main" id="{1B32DB16-E2D8-52DB-C004-165C44A824D2}"/>
              </a:ext>
            </a:extLst>
          </p:cNvPr>
          <p:cNvSpPr/>
          <p:nvPr/>
        </p:nvSpPr>
        <p:spPr>
          <a:xfrm>
            <a:off x="8111812" y="1576014"/>
            <a:ext cx="3611881" cy="2148066"/>
          </a:xfrm>
          <a:prstGeom prst="roundRect">
            <a:avLst>
              <a:gd name="adj" fmla="val 11256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7" name="Shape 26">
            <a:extLst>
              <a:ext uri="{FF2B5EF4-FFF2-40B4-BE49-F238E27FC236}">
                <a16:creationId xmlns:a16="http://schemas.microsoft.com/office/drawing/2014/main" id="{31F6DCB8-56C7-18C9-C621-2E4FEF4148F6}"/>
              </a:ext>
            </a:extLst>
          </p:cNvPr>
          <p:cNvSpPr/>
          <p:nvPr/>
        </p:nvSpPr>
        <p:spPr>
          <a:xfrm>
            <a:off x="4186039" y="1578027"/>
            <a:ext cx="3611881" cy="2148066"/>
          </a:xfrm>
          <a:prstGeom prst="roundRect">
            <a:avLst>
              <a:gd name="adj" fmla="val 11256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4D19A985-5775-F46D-0449-8F77B91529C6}"/>
              </a:ext>
            </a:extLst>
          </p:cNvPr>
          <p:cNvSpPr/>
          <p:nvPr/>
        </p:nvSpPr>
        <p:spPr>
          <a:xfrm>
            <a:off x="6062755" y="4227540"/>
            <a:ext cx="3611881" cy="2148066"/>
          </a:xfrm>
          <a:prstGeom prst="roundRect">
            <a:avLst>
              <a:gd name="adj" fmla="val 11256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" name="Text 0"/>
          <p:cNvSpPr/>
          <p:nvPr/>
        </p:nvSpPr>
        <p:spPr>
          <a:xfrm>
            <a:off x="891424" y="29184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91424" y="97764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when training models with RL and Preferences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119" y="1575240"/>
            <a:ext cx="3611880" cy="2148840"/>
          </a:xfrm>
          <a:prstGeom prst="roundRect">
            <a:avLst>
              <a:gd name="adj" fmla="val 10176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" name="Shape 3"/>
          <p:cNvSpPr/>
          <p:nvPr/>
        </p:nvSpPr>
        <p:spPr>
          <a:xfrm>
            <a:off x="468412" y="3861859"/>
            <a:ext cx="3281765" cy="78111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4"/>
          <p:cNvSpPr/>
          <p:nvPr/>
        </p:nvSpPr>
        <p:spPr>
          <a:xfrm>
            <a:off x="471265" y="1738900"/>
            <a:ext cx="530352" cy="53035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FR" dirty="0"/>
          </a:p>
        </p:txBody>
      </p:sp>
      <p:sp>
        <p:nvSpPr>
          <p:cNvPr id="7" name="Text 5"/>
          <p:cNvSpPr/>
          <p:nvPr/>
        </p:nvSpPr>
        <p:spPr>
          <a:xfrm>
            <a:off x="471265" y="180639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48679" y="1895280"/>
            <a:ext cx="1143000" cy="29260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Text 7"/>
          <p:cNvSpPr/>
          <p:nvPr/>
        </p:nvSpPr>
        <p:spPr>
          <a:xfrm>
            <a:off x="2476111" y="19501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4062" y="24553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Issues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4062" y="2970079"/>
            <a:ext cx="315932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might learn to generate harmful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hate speech, or dangerous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if the training data isn't carefully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56133" y="3865424"/>
            <a:ext cx="3281765" cy="8217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523BC40-9090-167F-A556-F44BF0984263}"/>
              </a:ext>
            </a:extLst>
          </p:cNvPr>
          <p:cNvGrpSpPr/>
          <p:nvPr/>
        </p:nvGrpSpPr>
        <p:grpSpPr>
          <a:xfrm>
            <a:off x="4356134" y="1738900"/>
            <a:ext cx="530352" cy="557784"/>
            <a:chOff x="4937760" y="2468880"/>
            <a:chExt cx="530352" cy="557784"/>
          </a:xfrm>
        </p:grpSpPr>
        <p:sp>
          <p:nvSpPr>
            <p:cNvPr id="14" name="Shape 12"/>
            <p:cNvSpPr/>
            <p:nvPr/>
          </p:nvSpPr>
          <p:spPr>
            <a:xfrm>
              <a:off x="4937760" y="2468880"/>
              <a:ext cx="530352" cy="530352"/>
            </a:xfrm>
            <a:prstGeom prst="roundRect">
              <a:avLst/>
            </a:prstGeom>
            <a:solidFill>
              <a:srgbClr val="FFF1E6"/>
            </a:solidFill>
            <a:ln w="12700">
              <a:solidFill>
                <a:srgbClr val="FFF1E6"/>
              </a:solidFill>
              <a:prstDash val="solid"/>
            </a:ln>
          </p:spPr>
          <p:txBody>
            <a:bodyPr/>
            <a:lstStyle/>
            <a:p>
              <a:endParaRPr lang="en-FR"/>
            </a:p>
          </p:txBody>
        </p:sp>
        <p:sp>
          <p:nvSpPr>
            <p:cNvPr id="15" name="Text 13"/>
            <p:cNvSpPr/>
            <p:nvPr/>
          </p:nvSpPr>
          <p:spPr>
            <a:xfrm>
              <a:off x="4937760" y="2496312"/>
              <a:ext cx="530352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118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🏆</a:t>
              </a:r>
              <a:endParaRPr lang="en-US" dirty="0"/>
            </a:p>
          </p:txBody>
        </p:sp>
      </p:grpSp>
      <p:sp>
        <p:nvSpPr>
          <p:cNvPr id="16" name="Shape 14"/>
          <p:cNvSpPr/>
          <p:nvPr/>
        </p:nvSpPr>
        <p:spPr>
          <a:xfrm>
            <a:off x="6424050" y="1892342"/>
            <a:ext cx="1143000" cy="292608"/>
          </a:xfrm>
          <a:prstGeom prst="roundRect">
            <a:avLst/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Text 15"/>
          <p:cNvSpPr/>
          <p:nvPr/>
        </p:nvSpPr>
        <p:spPr>
          <a:xfrm>
            <a:off x="6320599" y="1955498"/>
            <a:ext cx="13499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RISK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56134" y="24553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Hacking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346059" y="284481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finds a "cheat code" to get a high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without actually solving the task.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89826" y="3865424"/>
            <a:ext cx="3159546" cy="78111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Shape 20"/>
          <p:cNvSpPr/>
          <p:nvPr/>
        </p:nvSpPr>
        <p:spPr>
          <a:xfrm>
            <a:off x="8301526" y="1738900"/>
            <a:ext cx="530352" cy="530352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3" name="Text 21"/>
          <p:cNvSpPr/>
          <p:nvPr/>
        </p:nvSpPr>
        <p:spPr>
          <a:xfrm>
            <a:off x="8301526" y="17663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0306372" y="1780592"/>
            <a:ext cx="1143000" cy="29260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3"/>
          <p:cNvSpPr/>
          <p:nvPr/>
        </p:nvSpPr>
        <p:spPr>
          <a:xfrm>
            <a:off x="10333804" y="18354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31852" y="251211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431852" y="292359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Sounding extremely confident while being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wrong. RL can sometimes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"confident BS" over uncertainty.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49582" y="4252879"/>
            <a:ext cx="3611881" cy="2148066"/>
          </a:xfrm>
          <a:prstGeom prst="roundRect">
            <a:avLst>
              <a:gd name="adj" fmla="val 11256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Shape 27"/>
          <p:cNvSpPr/>
          <p:nvPr/>
        </p:nvSpPr>
        <p:spPr>
          <a:xfrm>
            <a:off x="2433939" y="6483986"/>
            <a:ext cx="3235767" cy="8217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0" name="Shape 28"/>
          <p:cNvSpPr/>
          <p:nvPr/>
        </p:nvSpPr>
        <p:spPr>
          <a:xfrm>
            <a:off x="2419725" y="4423904"/>
            <a:ext cx="530352" cy="530352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1" name="Text 29"/>
          <p:cNvSpPr/>
          <p:nvPr/>
        </p:nvSpPr>
        <p:spPr>
          <a:xfrm>
            <a:off x="2419725" y="44513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0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B226062-521E-F770-D36E-DD5A5DBE3C36}"/>
              </a:ext>
            </a:extLst>
          </p:cNvPr>
          <p:cNvGrpSpPr/>
          <p:nvPr/>
        </p:nvGrpSpPr>
        <p:grpSpPr>
          <a:xfrm>
            <a:off x="4477125" y="4511004"/>
            <a:ext cx="1143000" cy="292608"/>
            <a:chOff x="3298815" y="4846320"/>
            <a:chExt cx="1143000" cy="292608"/>
          </a:xfrm>
        </p:grpSpPr>
        <p:sp>
          <p:nvSpPr>
            <p:cNvPr id="32" name="Shape 30"/>
            <p:cNvSpPr/>
            <p:nvPr/>
          </p:nvSpPr>
          <p:spPr>
            <a:xfrm>
              <a:off x="3298815" y="4846320"/>
              <a:ext cx="1143000" cy="292608"/>
            </a:xfrm>
            <a:prstGeom prst="roundRect">
              <a:avLst/>
            </a:prstGeom>
            <a:solidFill>
              <a:srgbClr val="FEE2E2"/>
            </a:solidFill>
            <a:ln w="12700">
              <a:solidFill>
                <a:srgbClr val="FEE2E2"/>
              </a:solidFill>
              <a:prstDash val="solid"/>
            </a:ln>
          </p:spPr>
          <p:txBody>
            <a:bodyPr/>
            <a:lstStyle/>
            <a:p>
              <a:endParaRPr lang="en-FR"/>
            </a:p>
          </p:txBody>
        </p:sp>
        <p:sp>
          <p:nvSpPr>
            <p:cNvPr id="33" name="Text 31"/>
            <p:cNvSpPr/>
            <p:nvPr/>
          </p:nvSpPr>
          <p:spPr>
            <a:xfrm>
              <a:off x="3326247" y="4901184"/>
              <a:ext cx="10972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CRITICAL</a:t>
              </a:r>
              <a:endParaRPr lang="en-US" sz="1100" dirty="0"/>
            </a:p>
          </p:txBody>
        </p:sp>
      </p:grpSp>
      <p:sp>
        <p:nvSpPr>
          <p:cNvPr id="34" name="Text 32"/>
          <p:cNvSpPr/>
          <p:nvPr/>
        </p:nvSpPr>
        <p:spPr>
          <a:xfrm>
            <a:off x="2361705" y="51569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Leaks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2348897" y="5697913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Over-fitting to training data might cause the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 inadvertently memorize and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regurgitate sensitive personal information.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54004" y="6483985"/>
            <a:ext cx="3153905" cy="8217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8" name="Shape 36"/>
          <p:cNvSpPr/>
          <p:nvPr/>
        </p:nvSpPr>
        <p:spPr>
          <a:xfrm>
            <a:off x="6295811" y="4425950"/>
            <a:ext cx="530352" cy="53035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9" name="Text 37"/>
          <p:cNvSpPr/>
          <p:nvPr/>
        </p:nvSpPr>
        <p:spPr>
          <a:xfrm>
            <a:off x="6295811" y="445338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〰</a:t>
            </a: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8283197" y="4511004"/>
            <a:ext cx="1143000" cy="29260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1" name="Text 39"/>
          <p:cNvSpPr/>
          <p:nvPr/>
        </p:nvSpPr>
        <p:spPr>
          <a:xfrm>
            <a:off x="8310629" y="45658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18415" y="5150211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Drift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218415" y="5692516"/>
            <a:ext cx="33595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too much for one preference (e.g.,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”safety") might degrade other skills (e.g.,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code to kill a python process").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91440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Keep It Safe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strategies to mitigate risks and ensure responsible AI deployment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5303520" cy="1234440"/>
          </a:xfrm>
          <a:prstGeom prst="roundRect">
            <a:avLst/>
          </a:prstGeom>
          <a:solidFill>
            <a:srgbClr val="EAF9F0"/>
          </a:solidFill>
          <a:ln w="12700">
            <a:solidFill>
              <a:srgbClr val="CDEAD9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4"/>
          <p:cNvSpPr/>
          <p:nvPr/>
        </p:nvSpPr>
        <p:spPr>
          <a:xfrm>
            <a:off x="1234440" y="2388676"/>
            <a:ext cx="685800" cy="68580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7" name="Text 5"/>
          <p:cNvSpPr/>
          <p:nvPr/>
        </p:nvSpPr>
        <p:spPr>
          <a:xfrm>
            <a:off x="1234440" y="238867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057400" y="228049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Human Review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57400" y="2514600"/>
            <a:ext cx="39319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wide variety of human reviewers to evaluate answers,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cultural and personal bias.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03120"/>
            <a:ext cx="5303520" cy="1234440"/>
          </a:xfrm>
          <a:prstGeom prst="roundRect">
            <a:avLst/>
          </a:prstGeom>
          <a:solidFill>
            <a:srgbClr val="EAF9F0"/>
          </a:solidFill>
          <a:ln w="12700">
            <a:solidFill>
              <a:srgbClr val="CDEAD9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6E18813-7C9B-23B7-B35B-84217B165A33}"/>
              </a:ext>
            </a:extLst>
          </p:cNvPr>
          <p:cNvGrpSpPr/>
          <p:nvPr/>
        </p:nvGrpSpPr>
        <p:grpSpPr>
          <a:xfrm>
            <a:off x="6679692" y="2361244"/>
            <a:ext cx="685800" cy="740664"/>
            <a:chOff x="6720840" y="2487168"/>
            <a:chExt cx="685800" cy="740664"/>
          </a:xfrm>
        </p:grpSpPr>
        <p:sp>
          <p:nvSpPr>
            <p:cNvPr id="11" name="Shape 9"/>
            <p:cNvSpPr/>
            <p:nvPr/>
          </p:nvSpPr>
          <p:spPr>
            <a:xfrm>
              <a:off x="6720840" y="2487168"/>
              <a:ext cx="685800" cy="685800"/>
            </a:xfrm>
            <a:prstGeom prst="ellipse">
              <a:avLst/>
            </a:prstGeom>
            <a:solidFill>
              <a:srgbClr val="15803D"/>
            </a:solidFill>
            <a:ln w="12700">
              <a:solidFill>
                <a:srgbClr val="15803D"/>
              </a:solidFill>
              <a:prstDash val="solid"/>
            </a:ln>
            <a:effectLst>
              <a:outerShdw blurRad="76200" dist="254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FR"/>
            </a:p>
          </p:txBody>
        </p:sp>
        <p:sp>
          <p:nvSpPr>
            <p:cNvPr id="12" name="Text 10"/>
            <p:cNvSpPr/>
            <p:nvPr/>
          </p:nvSpPr>
          <p:spPr>
            <a:xfrm>
              <a:off x="6720840" y="2542032"/>
              <a:ext cx="68580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⛔</a:t>
              </a:r>
              <a:endParaRPr lang="en-US" sz="2600" dirty="0"/>
            </a:p>
          </p:txBody>
        </p:sp>
      </p:grpSp>
      <p:sp>
        <p:nvSpPr>
          <p:cNvPr id="13" name="Text 11"/>
          <p:cNvSpPr/>
          <p:nvPr/>
        </p:nvSpPr>
        <p:spPr>
          <a:xfrm>
            <a:off x="7543800" y="228049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543800" y="27203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force the model to refuse dangerous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(e.g., "how to build a bomb").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520440"/>
            <a:ext cx="5303520" cy="1234440"/>
          </a:xfrm>
          <a:prstGeom prst="roundRect">
            <a:avLst/>
          </a:prstGeom>
          <a:solidFill>
            <a:srgbClr val="EAF9F0"/>
          </a:solidFill>
          <a:ln w="12700">
            <a:solidFill>
              <a:srgbClr val="CDEAD9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4"/>
          <p:cNvSpPr/>
          <p:nvPr/>
        </p:nvSpPr>
        <p:spPr>
          <a:xfrm>
            <a:off x="1240329" y="3760276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7" name="Text 15"/>
          <p:cNvSpPr/>
          <p:nvPr/>
        </p:nvSpPr>
        <p:spPr>
          <a:xfrm>
            <a:off x="1240329" y="376027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057400" y="36445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Red-Teaming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057400" y="40842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ethical hackers to try and "break" the model to find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 before public release.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3520440"/>
            <a:ext cx="5303520" cy="1234440"/>
          </a:xfrm>
          <a:prstGeom prst="roundRect">
            <a:avLst/>
          </a:prstGeom>
          <a:solidFill>
            <a:srgbClr val="EAF9F0"/>
          </a:solidFill>
          <a:ln w="12700">
            <a:solidFill>
              <a:srgbClr val="CDEAD9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33955C5-BAD1-F550-0924-44D1144A5A75}"/>
              </a:ext>
            </a:extLst>
          </p:cNvPr>
          <p:cNvGrpSpPr/>
          <p:nvPr/>
        </p:nvGrpSpPr>
        <p:grpSpPr>
          <a:xfrm>
            <a:off x="6713091" y="3777867"/>
            <a:ext cx="685800" cy="722376"/>
            <a:chOff x="6720840" y="3867912"/>
            <a:chExt cx="685800" cy="722376"/>
          </a:xfrm>
        </p:grpSpPr>
        <p:sp>
          <p:nvSpPr>
            <p:cNvPr id="21" name="Shape 19"/>
            <p:cNvSpPr/>
            <p:nvPr/>
          </p:nvSpPr>
          <p:spPr>
            <a:xfrm>
              <a:off x="6720840" y="3867912"/>
              <a:ext cx="685800" cy="685800"/>
            </a:xfrm>
            <a:prstGeom prst="ellipse">
              <a:avLst/>
            </a:prstGeom>
            <a:solidFill>
              <a:srgbClr val="4F46E5"/>
            </a:solidFill>
            <a:ln w="12700">
              <a:solidFill>
                <a:srgbClr val="4F46E5"/>
              </a:solidFill>
              <a:prstDash val="solid"/>
            </a:ln>
            <a:effectLst>
              <a:outerShdw blurRad="76200" dist="254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FR"/>
            </a:p>
          </p:txBody>
        </p:sp>
        <p:sp>
          <p:nvSpPr>
            <p:cNvPr id="22" name="Text 20"/>
            <p:cNvSpPr/>
            <p:nvPr/>
          </p:nvSpPr>
          <p:spPr>
            <a:xfrm>
              <a:off x="6720840" y="3904488"/>
              <a:ext cx="68580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📄</a:t>
              </a:r>
              <a:endParaRPr lang="en-US" sz="2600" dirty="0"/>
            </a:p>
          </p:txBody>
        </p:sp>
      </p:grpSp>
      <p:sp>
        <p:nvSpPr>
          <p:cNvPr id="23" name="Text 21"/>
          <p:cNvSpPr/>
          <p:nvPr/>
        </p:nvSpPr>
        <p:spPr>
          <a:xfrm>
            <a:off x="7543800" y="36445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Logs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43800" y="40842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detailed records of model decisions (where privacy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permits) to trace and fix errors.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4937760"/>
            <a:ext cx="5303520" cy="1234440"/>
          </a:xfrm>
          <a:prstGeom prst="roundRect">
            <a:avLst/>
          </a:prstGeom>
          <a:solidFill>
            <a:srgbClr val="EAF9F0"/>
          </a:solidFill>
          <a:ln w="12700">
            <a:solidFill>
              <a:srgbClr val="CDEAD9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6" name="Shape 24"/>
          <p:cNvSpPr/>
          <p:nvPr/>
        </p:nvSpPr>
        <p:spPr>
          <a:xfrm>
            <a:off x="1256913" y="5212080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7" name="Text 25"/>
          <p:cNvSpPr/>
          <p:nvPr/>
        </p:nvSpPr>
        <p:spPr>
          <a:xfrm>
            <a:off x="1277913" y="5229593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056703" y="5069573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Updates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2056703" y="5531035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finetuning with new data to fix drift and address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discovered vulnerabilities.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4937760"/>
            <a:ext cx="5303520" cy="1234440"/>
          </a:xfrm>
          <a:prstGeom prst="roundRect">
            <a:avLst/>
          </a:prstGeom>
          <a:solidFill>
            <a:srgbClr val="EAF9F0"/>
          </a:solidFill>
          <a:ln w="12700">
            <a:solidFill>
              <a:srgbClr val="CDEAD9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CEC21FD-5C09-02B7-0C9E-9EABA070862E}"/>
              </a:ext>
            </a:extLst>
          </p:cNvPr>
          <p:cNvGrpSpPr/>
          <p:nvPr/>
        </p:nvGrpSpPr>
        <p:grpSpPr>
          <a:xfrm>
            <a:off x="6713091" y="5212080"/>
            <a:ext cx="685800" cy="685800"/>
            <a:chOff x="6720840" y="5321808"/>
            <a:chExt cx="685800" cy="685800"/>
          </a:xfrm>
        </p:grpSpPr>
        <p:sp>
          <p:nvSpPr>
            <p:cNvPr id="31" name="Shape 29"/>
            <p:cNvSpPr/>
            <p:nvPr/>
          </p:nvSpPr>
          <p:spPr>
            <a:xfrm>
              <a:off x="6720840" y="5321808"/>
              <a:ext cx="685800" cy="685800"/>
            </a:xfrm>
            <a:prstGeom prst="ellipse">
              <a:avLst/>
            </a:prstGeom>
            <a:solidFill>
              <a:srgbClr val="0F766E"/>
            </a:solidFill>
            <a:ln w="12700">
              <a:solidFill>
                <a:srgbClr val="0F766E"/>
              </a:solidFill>
              <a:prstDash val="solid"/>
            </a:ln>
            <a:effectLst>
              <a:outerShdw blurRad="76200" dist="254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FR"/>
            </a:p>
          </p:txBody>
        </p:sp>
        <p:sp>
          <p:nvSpPr>
            <p:cNvPr id="32" name="Text 30"/>
            <p:cNvSpPr/>
            <p:nvPr/>
          </p:nvSpPr>
          <p:spPr>
            <a:xfrm>
              <a:off x="6720840" y="5321808"/>
              <a:ext cx="68580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2600" dirty="0"/>
            </a:p>
          </p:txBody>
        </p:sp>
      </p:grpSp>
      <p:sp>
        <p:nvSpPr>
          <p:cNvPr id="33" name="Text 31"/>
          <p:cNvSpPr/>
          <p:nvPr/>
        </p:nvSpPr>
        <p:spPr>
          <a:xfrm>
            <a:off x="7543800" y="50794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2000" b="1" dirty="0"/>
              <a:t>Monitoring &amp; Incident Response</a:t>
            </a:r>
            <a:endParaRPr lang="en-GB" sz="2000" dirty="0"/>
          </a:p>
        </p:txBody>
      </p:sp>
      <p:sp>
        <p:nvSpPr>
          <p:cNvPr id="34" name="Text 32"/>
          <p:cNvSpPr/>
          <p:nvPr/>
        </p:nvSpPr>
        <p:spPr>
          <a:xfrm>
            <a:off x="7543800" y="5531035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200" dirty="0"/>
              <a:t>Real-time monitoring for spikes in errors, unsafe inputs/outputs, or abuse.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75B4D-28D7-49DB-696F-7052A49EA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">
            <a:extLst>
              <a:ext uri="{FF2B5EF4-FFF2-40B4-BE49-F238E27FC236}">
                <a16:creationId xmlns:a16="http://schemas.microsoft.com/office/drawing/2014/main" id="{83D2EA67-D053-AB66-7E8B-6BDDBB54AB59}"/>
              </a:ext>
            </a:extLst>
          </p:cNvPr>
          <p:cNvSpPr/>
          <p:nvPr/>
        </p:nvSpPr>
        <p:spPr>
          <a:xfrm>
            <a:off x="8595280" y="2217071"/>
            <a:ext cx="3360807" cy="3625789"/>
          </a:xfrm>
          <a:prstGeom prst="roundRect">
            <a:avLst>
              <a:gd name="adj" fmla="val 6049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E9B96309-B62D-6477-3382-E9D08C96CE08}"/>
              </a:ext>
            </a:extLst>
          </p:cNvPr>
          <p:cNvSpPr/>
          <p:nvPr/>
        </p:nvSpPr>
        <p:spPr>
          <a:xfrm>
            <a:off x="10733641" y="2217072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35D0EEAD-8185-2C5B-6D62-311718E8D97F}"/>
              </a:ext>
            </a:extLst>
          </p:cNvPr>
          <p:cNvSpPr/>
          <p:nvPr/>
        </p:nvSpPr>
        <p:spPr>
          <a:xfrm>
            <a:off x="8663860" y="3638868"/>
            <a:ext cx="33608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is Essential</a:t>
            </a:r>
            <a:endParaRPr lang="en-US" sz="24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C1A31E45-40F0-EAF6-AEFE-44D3AA29B1B4}"/>
              </a:ext>
            </a:extLst>
          </p:cNvPr>
          <p:cNvSpPr/>
          <p:nvPr/>
        </p:nvSpPr>
        <p:spPr>
          <a:xfrm>
            <a:off x="8663860" y="4052565"/>
            <a:ext cx="3197946" cy="151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intelligence isn't enough.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training requires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human oversight, and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evaluation to turn raw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into trustworthy partners.</a:t>
            </a:r>
            <a:endParaRPr lang="en-US" sz="1200" dirty="0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CB4D1AB8-3B86-E1A2-C0AF-7DD067CC10C2}"/>
              </a:ext>
            </a:extLst>
          </p:cNvPr>
          <p:cNvSpPr/>
          <p:nvPr/>
        </p:nvSpPr>
        <p:spPr>
          <a:xfrm>
            <a:off x="4594280" y="2217071"/>
            <a:ext cx="3360807" cy="3625789"/>
          </a:xfrm>
          <a:prstGeom prst="roundRect">
            <a:avLst>
              <a:gd name="adj" fmla="val 6049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0ACF5126-9A4B-4AE6-6C51-19A0C0B56845}"/>
              </a:ext>
            </a:extLst>
          </p:cNvPr>
          <p:cNvSpPr/>
          <p:nvPr/>
        </p:nvSpPr>
        <p:spPr>
          <a:xfrm>
            <a:off x="6732641" y="2217072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F6CF61AB-EB74-AA23-CAE8-E2C814E76DA9}"/>
              </a:ext>
            </a:extLst>
          </p:cNvPr>
          <p:cNvSpPr/>
          <p:nvPr/>
        </p:nvSpPr>
        <p:spPr>
          <a:xfrm>
            <a:off x="4662860" y="3638868"/>
            <a:ext cx="33608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Tool</a:t>
            </a:r>
            <a:endParaRPr lang="en-US" sz="24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12034753-7780-74A7-B43F-95D169F5023A}"/>
              </a:ext>
            </a:extLst>
          </p:cNvPr>
          <p:cNvSpPr/>
          <p:nvPr/>
        </p:nvSpPr>
        <p:spPr>
          <a:xfrm>
            <a:off x="4665701" y="4048392"/>
            <a:ext cx="3255660" cy="151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DPO to align style, tone, and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with human preferences. Use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to improve reasoning, math,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code correctness through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practice.</a:t>
            </a:r>
            <a:endParaRPr lang="en-US" sz="12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2AAD82A-9F5B-0E02-62C4-27496765FEA9}"/>
              </a:ext>
            </a:extLst>
          </p:cNvPr>
          <p:cNvSpPr/>
          <p:nvPr/>
        </p:nvSpPr>
        <p:spPr>
          <a:xfrm>
            <a:off x="91440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663EB9-05CC-3607-AA1E-64779396C97B}"/>
              </a:ext>
            </a:extLst>
          </p:cNvPr>
          <p:cNvSpPr/>
          <p:nvPr/>
        </p:nvSpPr>
        <p:spPr>
          <a:xfrm>
            <a:off x="91440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the modern AI training pipeline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941075B-CD37-94BE-48F5-3400C3ED1B0D}"/>
              </a:ext>
            </a:extLst>
          </p:cNvPr>
          <p:cNvSpPr/>
          <p:nvPr/>
        </p:nvSpPr>
        <p:spPr>
          <a:xfrm>
            <a:off x="524700" y="2248068"/>
            <a:ext cx="3360807" cy="3625789"/>
          </a:xfrm>
          <a:prstGeom prst="roundRect">
            <a:avLst>
              <a:gd name="adj" fmla="val 6049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BF82404-4A24-1E2A-3B43-28CEC4E2EB1B}"/>
              </a:ext>
            </a:extLst>
          </p:cNvPr>
          <p:cNvSpPr/>
          <p:nvPr/>
        </p:nvSpPr>
        <p:spPr>
          <a:xfrm>
            <a:off x="524700" y="6155112"/>
            <a:ext cx="3360807" cy="77699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38DA3B9-A12E-8C80-4698-2F93BFB0705D}"/>
              </a:ext>
            </a:extLst>
          </p:cNvPr>
          <p:cNvSpPr/>
          <p:nvPr/>
        </p:nvSpPr>
        <p:spPr>
          <a:xfrm>
            <a:off x="2663061" y="2248069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BE71231-B163-8C68-3428-51D684A63AC3}"/>
              </a:ext>
            </a:extLst>
          </p:cNvPr>
          <p:cNvSpPr/>
          <p:nvPr/>
        </p:nvSpPr>
        <p:spPr>
          <a:xfrm>
            <a:off x="830580" y="2560320"/>
            <a:ext cx="640080" cy="6400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0334356-3499-9F34-D0B8-FB2BA3267FBE}"/>
              </a:ext>
            </a:extLst>
          </p:cNvPr>
          <p:cNvSpPr/>
          <p:nvPr/>
        </p:nvSpPr>
        <p:spPr>
          <a:xfrm>
            <a:off x="830580" y="255451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≋</a:t>
            </a:r>
            <a:endParaRPr lang="en-US" sz="3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E3E5AC7-A2DB-CDDB-527E-00BBFFD01740}"/>
              </a:ext>
            </a:extLst>
          </p:cNvPr>
          <p:cNvSpPr/>
          <p:nvPr/>
        </p:nvSpPr>
        <p:spPr>
          <a:xfrm>
            <a:off x="593280" y="3609964"/>
            <a:ext cx="33608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Multi-Step Journey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A3330DD-5E8E-955E-0770-30DAF60B2B21}"/>
              </a:ext>
            </a:extLst>
          </p:cNvPr>
          <p:cNvSpPr/>
          <p:nvPr/>
        </p:nvSpPr>
        <p:spPr>
          <a:xfrm>
            <a:off x="593280" y="4161178"/>
            <a:ext cx="3197946" cy="151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smart assistant isn’t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magic. It follows a rigorous path:</a:t>
            </a:r>
            <a:endParaRPr lang="en-US" sz="1200" dirty="0"/>
          </a:p>
          <a:p>
            <a:pPr marL="0" indent="0" algn="just">
              <a:lnSpc>
                <a:spcPct val="120000"/>
              </a:lnSpc>
              <a:buNone/>
            </a:pPr>
            <a:endParaRPr lang="en-US" sz="1200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 for knowledge, SFT for</a:t>
            </a:r>
            <a:endParaRPr lang="en-US" sz="1200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format, and Alignment for behavior.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BA0D551-36D3-8228-3CEF-6D9A1FA0A3A6}"/>
              </a:ext>
            </a:extLst>
          </p:cNvPr>
          <p:cNvSpPr/>
          <p:nvPr/>
        </p:nvSpPr>
        <p:spPr>
          <a:xfrm>
            <a:off x="4662859" y="6169448"/>
            <a:ext cx="3292229" cy="77699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1F9251F-9D1A-E6FA-05FF-ABCE3179E2AC}"/>
              </a:ext>
            </a:extLst>
          </p:cNvPr>
          <p:cNvSpPr/>
          <p:nvPr/>
        </p:nvSpPr>
        <p:spPr>
          <a:xfrm>
            <a:off x="4846320" y="2560320"/>
            <a:ext cx="640080" cy="640080"/>
          </a:xfrm>
          <a:prstGeom prst="roundRect">
            <a:avLst/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57D20BA-F40F-355C-FF76-E50E760CA96B}"/>
              </a:ext>
            </a:extLst>
          </p:cNvPr>
          <p:cNvSpPr/>
          <p:nvPr/>
        </p:nvSpPr>
        <p:spPr>
          <a:xfrm>
            <a:off x="4846320" y="25877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⚒</a:t>
            </a:r>
            <a:endParaRPr lang="en-US" sz="28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FD77406-9225-7B2A-1A38-FC699410146B}"/>
              </a:ext>
            </a:extLst>
          </p:cNvPr>
          <p:cNvSpPr/>
          <p:nvPr/>
        </p:nvSpPr>
        <p:spPr>
          <a:xfrm>
            <a:off x="8595281" y="6155112"/>
            <a:ext cx="3360808" cy="92035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68B7C9D-64CB-8076-333B-204B7CEE502C}"/>
              </a:ext>
            </a:extLst>
          </p:cNvPr>
          <p:cNvSpPr/>
          <p:nvPr/>
        </p:nvSpPr>
        <p:spPr>
          <a:xfrm>
            <a:off x="8847562" y="2560320"/>
            <a:ext cx="640080" cy="6400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C8BAF1B-6F5D-D32E-747A-38ABB484DBF2}"/>
              </a:ext>
            </a:extLst>
          </p:cNvPr>
          <p:cNvSpPr/>
          <p:nvPr/>
        </p:nvSpPr>
        <p:spPr>
          <a:xfrm>
            <a:off x="8847562" y="260793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1988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671" y="69761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to Try It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20671" y="138341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steps to start experimenting with model optimization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418320" y="5211305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720671" y="2423160"/>
            <a:ext cx="5669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" name="Shape 4"/>
          <p:cNvSpPr/>
          <p:nvPr/>
        </p:nvSpPr>
        <p:spPr>
          <a:xfrm>
            <a:off x="1040711" y="2848588"/>
            <a:ext cx="640080" cy="6400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Text 5"/>
          <p:cNvSpPr/>
          <p:nvPr/>
        </p:nvSpPr>
        <p:spPr>
          <a:xfrm>
            <a:off x="1040711" y="28760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863671" y="26885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63671" y="305432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massive datasets. Pick one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task and collect just 50–100 high-quality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pairs to see results.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0671" y="4206240"/>
            <a:ext cx="5669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1" name="Shape 9"/>
          <p:cNvSpPr/>
          <p:nvPr/>
        </p:nvSpPr>
        <p:spPr>
          <a:xfrm>
            <a:off x="1040711" y="4663440"/>
            <a:ext cx="640080" cy="6400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Text 10"/>
          <p:cNvSpPr/>
          <p:nvPr/>
        </p:nvSpPr>
        <p:spPr>
          <a:xfrm>
            <a:off x="1040711" y="4690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63671" y="4388345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Simply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63671" y="4799825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simple A/B tests with a checklist. Always keep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"human in the loop" to verify improvements and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any regressions.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09991" y="3017520"/>
            <a:ext cx="5257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6" name="Shape 14"/>
          <p:cNvSpPr/>
          <p:nvPr/>
        </p:nvSpPr>
        <p:spPr>
          <a:xfrm>
            <a:off x="7052891" y="3566160"/>
            <a:ext cx="640080" cy="64008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Text 15"/>
          <p:cNvSpPr/>
          <p:nvPr/>
        </p:nvSpPr>
        <p:spPr>
          <a:xfrm>
            <a:off x="7052891" y="3593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852991" y="33375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Tools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852991" y="374904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build from scratch. Use hosted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tuning APIs or open-source libraries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Hugging Face TRL.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0AEF6-8CB3-9ED5-BF40-278560505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B0C579-D5F9-75EB-79D3-24D5E9AF9F27}"/>
              </a:ext>
            </a:extLst>
          </p:cNvPr>
          <p:cNvSpPr txBox="1"/>
          <p:nvPr/>
        </p:nvSpPr>
        <p:spPr>
          <a:xfrm>
            <a:off x="539712" y="1818205"/>
            <a:ext cx="9688296" cy="3454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We will finetune Qwen2.5-0.5B-Instruct on French data.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effectLst/>
              </a:rPr>
              <a:t>W</a:t>
            </a:r>
            <a:r>
              <a:rPr lang="en-US" sz="1400"/>
              <a:t>e use </a:t>
            </a:r>
            <a:r>
              <a:rPr lang="en-US" sz="1400" b="1"/>
              <a:t>off-policy </a:t>
            </a:r>
            <a:r>
              <a:rPr lang="en-US" sz="1400"/>
              <a:t>DPO.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Memory requirement: </a:t>
            </a:r>
            <a:r>
              <a:rPr lang="en-US" sz="1400">
                <a:hlinkClick r:id="rId2"/>
              </a:rPr>
              <a:t>https://rahulschand.github.io/gpu_poor/</a:t>
            </a:r>
            <a:endParaRPr lang="en-US" sz="140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In practice, you choose the GPU machine that suites your needs: </a:t>
            </a:r>
            <a:r>
              <a:rPr lang="en-US" sz="1400">
                <a:hlinkClick r:id="rId3"/>
              </a:rPr>
              <a:t>https://aws.amazon.com/sagemaker-ai/pricing/</a:t>
            </a:r>
            <a:endParaRPr lang="en-US" sz="1400"/>
          </a:p>
          <a:p>
            <a:pPr marL="120015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Cheaper option: </a:t>
            </a:r>
            <a:r>
              <a:rPr lang="en-US" sz="1400">
                <a:hlinkClick r:id="rId4"/>
              </a:rPr>
              <a:t>https://www.runpod.io/</a:t>
            </a:r>
            <a:endParaRPr lang="en-US" sz="1400"/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Memory management: LoRA + Quantization (here 4-bits)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Evaluation frameworks: </a:t>
            </a:r>
            <a:r>
              <a:rPr lang="en-US" sz="1400">
                <a:effectLst/>
              </a:rPr>
              <a:t>lm-eval harness, lighteval, libra-eval , etc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F30FD0-224F-9E62-581C-90631E045F1A}"/>
              </a:ext>
            </a:extLst>
          </p:cNvPr>
          <p:cNvSpPr txBox="1"/>
          <p:nvPr/>
        </p:nvSpPr>
        <p:spPr>
          <a:xfrm>
            <a:off x="756687" y="524382"/>
            <a:ext cx="89762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1: Alignment with DPO</a:t>
            </a:r>
            <a:endParaRPr lang="en-US" sz="44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71AF0A4-C90A-5D8C-AD14-68290382F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1392300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0AEF6-8CB3-9ED5-BF40-278560505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B0C579-D5F9-75EB-79D3-24D5E9AF9F27}"/>
              </a:ext>
            </a:extLst>
          </p:cNvPr>
          <p:cNvSpPr txBox="1"/>
          <p:nvPr/>
        </p:nvSpPr>
        <p:spPr>
          <a:xfrm>
            <a:off x="383263" y="1818205"/>
            <a:ext cx="5650644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We will finetune Qwen2.5-0.5B-Instruct on Math data.</a:t>
            </a:r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Memory management: </a:t>
            </a:r>
            <a:r>
              <a:rPr lang="en-US" sz="1600" dirty="0" err="1"/>
              <a:t>LoRA</a:t>
            </a:r>
            <a:r>
              <a:rPr lang="en-US" sz="1600" dirty="0"/>
              <a:t> + Quantization (here 4-bits)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effectLst/>
            </a:endParaRPr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Evaluation frameworks: </a:t>
            </a:r>
            <a:r>
              <a:rPr lang="en-US" sz="1600" dirty="0" err="1"/>
              <a:t>lm</a:t>
            </a:r>
            <a:r>
              <a:rPr lang="en-US" sz="1600" dirty="0"/>
              <a:t>-eval harness, </a:t>
            </a:r>
            <a:r>
              <a:rPr lang="en-US" sz="1600" dirty="0" err="1"/>
              <a:t>lighteval</a:t>
            </a:r>
            <a:r>
              <a:rPr lang="en-US" sz="1600" dirty="0"/>
              <a:t> on famous benchmarks like AIME, </a:t>
            </a:r>
            <a:r>
              <a:rPr lang="en-US" sz="1600" dirty="0" err="1"/>
              <a:t>LiveCodeBench</a:t>
            </a:r>
            <a:r>
              <a:rPr lang="en-US" sz="1600" dirty="0"/>
              <a:t>, </a:t>
            </a:r>
            <a:r>
              <a:rPr lang="en-US" sz="1600" dirty="0" err="1"/>
              <a:t>etc</a:t>
            </a:r>
            <a:endParaRPr lang="en-US" sz="1600" dirty="0"/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Real world scenarios: </a:t>
            </a:r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1200150" lvl="2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Rollout slow down training and in practice we use </a:t>
            </a:r>
            <a:r>
              <a:rPr lang="en-US" sz="1600" dirty="0" err="1"/>
              <a:t>vLLM</a:t>
            </a:r>
            <a:r>
              <a:rPr lang="en-US" sz="1600" dirty="0"/>
              <a:t> or </a:t>
            </a:r>
            <a:r>
              <a:rPr lang="en-US" sz="1600" dirty="0" err="1"/>
              <a:t>SGLang</a:t>
            </a:r>
            <a:r>
              <a:rPr lang="en-US" sz="1600" dirty="0"/>
              <a:t> to speedup</a:t>
            </a:r>
          </a:p>
          <a:p>
            <a:pPr marL="1200150" lvl="2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Asynchronous training</a:t>
            </a:r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4" name="Picture 3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A252D028-C68C-5602-39E8-E8BD42CF0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442" y="1635809"/>
            <a:ext cx="5201023" cy="317262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48B3D3-75A9-29D4-CCE1-C07EFDE6152B}"/>
              </a:ext>
            </a:extLst>
          </p:cNvPr>
          <p:cNvSpPr txBox="1"/>
          <p:nvPr/>
        </p:nvSpPr>
        <p:spPr>
          <a:xfrm>
            <a:off x="756687" y="524382"/>
            <a:ext cx="89762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2: </a:t>
            </a: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with GRPO</a:t>
            </a:r>
            <a:endParaRPr lang="en-US" sz="44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79782FC-A752-2DC4-02CC-1EA8105E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19443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1F52B-49F3-C8A7-E11A-AE9D74B72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08ABC5-4BC9-A0A6-9BAD-523ACB10748A}"/>
              </a:ext>
            </a:extLst>
          </p:cNvPr>
          <p:cNvSpPr/>
          <p:nvPr/>
        </p:nvSpPr>
        <p:spPr>
          <a:xfrm>
            <a:off x="689674" y="767361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Functions</a:t>
            </a:r>
            <a:endParaRPr lang="en-US" sz="7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D3DB1B1-CC42-FF96-1337-8AC6F130CA14}"/>
              </a:ext>
            </a:extLst>
          </p:cNvPr>
          <p:cNvSpPr/>
          <p:nvPr/>
        </p:nvSpPr>
        <p:spPr>
          <a:xfrm>
            <a:off x="3843580" y="5219054"/>
            <a:ext cx="1007699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details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1142598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45584-F10F-18E5-D124-3B7E62885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D5C643-5C46-0286-4A82-9866DB4FA4A2}"/>
              </a:ext>
            </a:extLst>
          </p:cNvPr>
          <p:cNvSpPr txBox="1"/>
          <p:nvPr/>
        </p:nvSpPr>
        <p:spPr>
          <a:xfrm>
            <a:off x="876692" y="2533476"/>
            <a:ext cx="1025109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1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Cross Entropy Loss: Maximize probability of correct token x.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lvl="1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e.g.: What is the most probable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word after: The cat felt on</a:t>
            </a:r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5D44CE-A119-92A1-7AE3-C4E5FE69F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3FD5E7-217D-A425-FDAA-CF843303AF8D}"/>
              </a:ext>
            </a:extLst>
          </p:cNvPr>
          <p:cNvSpPr txBox="1"/>
          <p:nvPr/>
        </p:nvSpPr>
        <p:spPr>
          <a:xfrm>
            <a:off x="756687" y="524382"/>
            <a:ext cx="89762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 and SFT</a:t>
            </a:r>
            <a:endParaRPr lang="en-US" sz="4400" dirty="0"/>
          </a:p>
        </p:txBody>
      </p:sp>
      <p:pic>
        <p:nvPicPr>
          <p:cNvPr id="3" name="Picture 2" descr="Cross Entropy Loss: Intro, Applications, Code">
            <a:extLst>
              <a:ext uri="{FF2B5EF4-FFF2-40B4-BE49-F238E27FC236}">
                <a16:creationId xmlns:a16="http://schemas.microsoft.com/office/drawing/2014/main" id="{23C231CF-0DDB-F40F-3BD8-77ABDB035A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0" t="7009" r="12662" b="5741"/>
          <a:stretch/>
        </p:blipFill>
        <p:spPr bwMode="auto">
          <a:xfrm>
            <a:off x="3597832" y="4207370"/>
            <a:ext cx="4808810" cy="2126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803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FE462-906D-5DA7-1948-87B8E7EAE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BA561F-7735-F3A0-7779-81746E467FC4}"/>
              </a:ext>
            </a:extLst>
          </p:cNvPr>
          <p:cNvSpPr txBox="1"/>
          <p:nvPr/>
        </p:nvSpPr>
        <p:spPr>
          <a:xfrm>
            <a:off x="876692" y="2533476"/>
            <a:ext cx="1025109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FR" sz="2000" kern="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Goal: Maximize probability of  winner tokens and minimize probability of loser tokens</a:t>
            </a:r>
            <a:r>
              <a:rPr lang="en-FR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n-FR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e.g.: </a:t>
            </a:r>
            <a:r>
              <a:rPr lang="en-GB" sz="2000" i="1" dirty="0">
                <a:latin typeface="Calibri" panose="020F0502020204030204" pitchFamily="34" charset="0"/>
                <a:cs typeface="Calibri" panose="020F0502020204030204" pitchFamily="34" charset="0"/>
              </a:rPr>
              <a:t>Give me a recipe of Gratin Dauphinois</a:t>
            </a:r>
            <a:endParaRPr lang="en-US" sz="2000" i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D49F64-2D9A-61C4-5C92-CEBA60D5D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F88AB5-2D12-F809-B625-19FC710DADFF}"/>
              </a:ext>
            </a:extLst>
          </p:cNvPr>
          <p:cNvSpPr txBox="1"/>
          <p:nvPr/>
        </p:nvSpPr>
        <p:spPr>
          <a:xfrm>
            <a:off x="756687" y="524382"/>
            <a:ext cx="89762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4400" dirty="0"/>
          </a:p>
        </p:txBody>
      </p:sp>
      <p:pic>
        <p:nvPicPr>
          <p:cNvPr id="2" name="Picture 4" descr="Direct Preference Optimization — Your Language Model is Secretly a Reward  Model | by kakinada kavya priyanka | Medium">
            <a:extLst>
              <a:ext uri="{FF2B5EF4-FFF2-40B4-BE49-F238E27FC236}">
                <a16:creationId xmlns:a16="http://schemas.microsoft.com/office/drawing/2014/main" id="{DE9F7A56-DB22-CFFD-A0C0-85D125150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642" y="4592660"/>
            <a:ext cx="8980716" cy="769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307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7E7AC-7982-7BF3-E2E9-D4F9E111C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EB6852-6765-E397-534B-D05B111CE509}"/>
              </a:ext>
            </a:extLst>
          </p:cNvPr>
          <p:cNvSpPr txBox="1"/>
          <p:nvPr/>
        </p:nvSpPr>
        <p:spPr>
          <a:xfrm>
            <a:off x="532149" y="2440486"/>
            <a:ext cx="10173600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FR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Reward function: Designed for each task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FR" sz="2000" kern="0" dirty="0"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Optimize the LLM policy without deviating much from the base one (reference model)</a:t>
            </a:r>
            <a:endParaRPr lang="en-FR" sz="20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75F020-4BC2-33F3-4579-5A9469E55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C1645D-6B55-B62F-AA29-7E3ABEC42C25}"/>
              </a:ext>
            </a:extLst>
          </p:cNvPr>
          <p:cNvSpPr txBox="1"/>
          <p:nvPr/>
        </p:nvSpPr>
        <p:spPr>
          <a:xfrm>
            <a:off x="756687" y="524382"/>
            <a:ext cx="89762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4400" dirty="0"/>
          </a:p>
        </p:txBody>
      </p:sp>
      <p:pic>
        <p:nvPicPr>
          <p:cNvPr id="2" name="Picture 6" descr="DeepSeek R1: Understanding GRPO and Multi-Stage Training | by  BavalpreetSinghh | Artificial Intelligence in Plain English">
            <a:extLst>
              <a:ext uri="{FF2B5EF4-FFF2-40B4-BE49-F238E27FC236}">
                <a16:creationId xmlns:a16="http://schemas.microsoft.com/office/drawing/2014/main" id="{8B055BFF-B869-7866-23F8-B046119BD9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0" t="12148" r="246" b="73946"/>
          <a:stretch/>
        </p:blipFill>
        <p:spPr bwMode="auto">
          <a:xfrm>
            <a:off x="779728" y="3881942"/>
            <a:ext cx="10632544" cy="100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585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1116</TotalTime>
  <Words>1597</Words>
  <Application>Microsoft Macintosh PowerPoint</Application>
  <PresentationFormat>Widescreen</PresentationFormat>
  <Paragraphs>272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Abdelaziz Bounhar</dc:creator>
  <cp:lastModifiedBy>Abdelaziz Bounhar</cp:lastModifiedBy>
  <cp:revision>79</cp:revision>
  <dcterms:created xsi:type="dcterms:W3CDTF">2026-02-02T15:18:22Z</dcterms:created>
  <dcterms:modified xsi:type="dcterms:W3CDTF">2026-02-03T10:00:25Z</dcterms:modified>
</cp:coreProperties>
</file>